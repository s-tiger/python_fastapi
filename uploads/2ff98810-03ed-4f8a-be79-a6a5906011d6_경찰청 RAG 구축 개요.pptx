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C4D16-EDD1-5395-A558-0C75A52CD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E10C9D-03B8-90E6-F10E-7B84EFB84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8C91E-A9C5-5DCB-DDF3-26465457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0C532-61ED-D5B0-6E24-D533AC5C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BD28C-4343-665B-A5B4-697821DC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69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F9A9A-ABC1-4656-B062-FD9D38FF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9E31D6-5A85-E470-09F1-4A1CB124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8FA104-5F45-190D-F552-427DA0A3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FECCE6-AA25-9F25-9857-AAB5D0F9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E2FE2-8C00-3452-A607-490D8046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4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965F3-BCC7-194D-FF90-4F0EF8EF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21C64-E5AE-4DD2-FA70-B011213E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B0E0BB-E110-2FC3-4E08-30A59278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BF6E91-C000-2F30-26DB-FC290E4D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83881-1A22-5C63-618E-62A903E4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51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D05DB-9D2C-027B-1041-5103935C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C8517-EF99-28F4-8AF1-A54930CFE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732459-F149-6443-2A69-2EF2E1A9D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E2F9A1-3F45-DBB9-5174-9F13489D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A78509-A19F-8CDB-E420-F519C7DD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075E1E-084B-7AA9-68E1-2F6C07EA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76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4D39A-8448-A8B3-8818-8282FC17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1EB20-81BF-2759-F1B2-049C9375A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C9DB3C-1F31-DAF4-8238-F08EEC1E1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69155F-0B7A-3B66-F3DB-B3BA8E56B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E443BE-1CF2-E48B-FF79-61421D676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71469F-4FE7-216F-AF19-37F1E60E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F3837C-6DB1-E1D2-3F1E-1A8F0CC4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F57758-AD18-AFFE-5725-FCE2F556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9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EFD46-7264-0394-FBAC-24F79993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89F90A-51CC-39A1-3072-6E3C4B57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02A33F-24B2-5788-078A-36CC6867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C7384D-5B40-69F5-58BC-E23F121E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11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A139E-412A-8AD6-E249-A4EA8412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115EF6-291C-6F9E-EE42-087BBD2A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29355-154B-92E8-73D4-06333F02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70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49340-59ED-B3A6-9FB5-7B845A1E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D2B7A5-6C11-AA2E-9952-DEE4EE94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FD16D1-4A17-544D-2B3E-1D1AFBEC9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78FF9-F7F5-F142-A2B1-7DC2BFAD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4338BB-7748-A399-6559-7C5DE7B9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449318-AFE1-E30F-D905-C835BFB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68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A3F8-0AD4-95F0-F0A4-AC458671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5C08DD-8F7F-2ACA-F03E-D66366E84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5EE957-F79F-AAB9-3DA0-B70818DC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4E7D21-27EF-7D20-73A6-2C2EAE97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31AD1B-FB73-ADD8-75CC-CD9D0362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0AB8F0-B1A1-FDC4-3D97-00E084C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6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D1F48-F40F-9FBD-F0C0-363101AC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B8CCC8-BF5C-4678-B99A-FD80F373B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56CC71-C621-A027-40A7-12DA21CE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0CCA5-B767-61D3-164C-9303223A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25FA1E-1C88-9232-16AE-141793AC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7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3E7B99-5C9B-0AF1-BCE5-72EFE7133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4FE5AF-F459-79D5-4704-0E4CC21C8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E9BCE-AA51-8CE4-9B63-12D013DC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362EF-C4DD-0EC5-5552-6D0F262F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068B3-6440-B82C-7DE1-83818871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33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60BBDC-92E9-29F8-6FAB-16F3626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13CE4B-A1C2-DF07-A6F0-7E860C35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ECD20A-C146-8D04-1FF9-46179023A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47585-969E-456C-B3D9-A7277111E94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248B-D35F-0AE8-DAF2-E1A2C0315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21E47-2539-E6CC-6EFF-6D405D814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1C001-261F-4AD8-8052-3F6AE1D6B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75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27BF5-61F2-EAC9-537B-762F72BBF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경찰청 </a:t>
            </a:r>
            <a:r>
              <a:rPr lang="en-US" altLang="ko-KR" dirty="0"/>
              <a:t>RAG </a:t>
            </a:r>
            <a:r>
              <a:rPr lang="ko-KR" altLang="en-US" dirty="0"/>
              <a:t>구축 개요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288B18-95B3-1230-3E06-5E2048C4C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2026-06-08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830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10B3AA-12F9-A742-A7D3-138428A969A1}"/>
              </a:ext>
            </a:extLst>
          </p:cNvPr>
          <p:cNvSpPr txBox="1"/>
          <p:nvPr/>
        </p:nvSpPr>
        <p:spPr>
          <a:xfrm>
            <a:off x="550014" y="398761"/>
            <a:ext cx="5293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경찰청 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KICS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수사지원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고도화 사업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A759E1-3B52-485B-5BD1-D2168E517756}"/>
              </a:ext>
            </a:extLst>
          </p:cNvPr>
          <p:cNvCxnSpPr/>
          <p:nvPr/>
        </p:nvCxnSpPr>
        <p:spPr>
          <a:xfrm>
            <a:off x="598141" y="1038153"/>
            <a:ext cx="1092467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F5F0724-7475-0E89-28CA-859F9671462E}"/>
              </a:ext>
            </a:extLst>
          </p:cNvPr>
          <p:cNvGrpSpPr/>
          <p:nvPr/>
        </p:nvGrpSpPr>
        <p:grpSpPr>
          <a:xfrm>
            <a:off x="543141" y="1938803"/>
            <a:ext cx="3471968" cy="2289439"/>
            <a:chOff x="543141" y="1938803"/>
            <a:chExt cx="3471968" cy="228943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F3251DB-5BB8-DF96-9D05-89CCFA66A343}"/>
                </a:ext>
              </a:extLst>
            </p:cNvPr>
            <p:cNvSpPr/>
            <p:nvPr/>
          </p:nvSpPr>
          <p:spPr>
            <a:xfrm>
              <a:off x="845648" y="2213812"/>
              <a:ext cx="3169461" cy="2014430"/>
            </a:xfrm>
            <a:prstGeom prst="roundRect">
              <a:avLst>
                <a:gd name="adj" fmla="val 10100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/>
                <a:t>1</a:t>
              </a:r>
              <a:r>
                <a:rPr lang="ko-KR" altLang="en-US" sz="2800" b="1" dirty="0"/>
                <a:t>차 사업</a:t>
              </a:r>
              <a:endParaRPr lang="en-US" altLang="ko-KR" sz="2800" b="1" dirty="0"/>
            </a:p>
            <a:p>
              <a:pPr algn="ctr"/>
              <a:r>
                <a:rPr lang="ko-KR" altLang="en-US" sz="2800" b="1" dirty="0"/>
                <a:t>운영기능 개선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7756F52-EF5C-5C2C-0E5D-53BDFE3C3734}"/>
                </a:ext>
              </a:extLst>
            </p:cNvPr>
            <p:cNvSpPr/>
            <p:nvPr/>
          </p:nvSpPr>
          <p:spPr>
            <a:xfrm>
              <a:off x="543141" y="1938803"/>
              <a:ext cx="742520" cy="74252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b="1" dirty="0"/>
                <a:t>1</a:t>
              </a:r>
              <a:endParaRPr lang="ko-KR" altLang="en-US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5EA74A5-3230-BFB8-23BA-AC9996A64FBC}"/>
              </a:ext>
            </a:extLst>
          </p:cNvPr>
          <p:cNvGrpSpPr/>
          <p:nvPr/>
        </p:nvGrpSpPr>
        <p:grpSpPr>
          <a:xfrm>
            <a:off x="4331370" y="1938803"/>
            <a:ext cx="3471968" cy="2289439"/>
            <a:chOff x="3960110" y="1938803"/>
            <a:chExt cx="3471968" cy="2289439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E5F6361-F188-7B3E-04FA-CA3AAFDAC331}"/>
                </a:ext>
              </a:extLst>
            </p:cNvPr>
            <p:cNvSpPr/>
            <p:nvPr/>
          </p:nvSpPr>
          <p:spPr>
            <a:xfrm>
              <a:off x="4262617" y="2213812"/>
              <a:ext cx="3169461" cy="2014430"/>
            </a:xfrm>
            <a:prstGeom prst="roundRect">
              <a:avLst>
                <a:gd name="adj" fmla="val 10100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/>
                <a:t>신규과제</a:t>
              </a:r>
              <a:endParaRPr lang="en-US" altLang="ko-KR" sz="2800" b="1" dirty="0"/>
            </a:p>
            <a:p>
              <a:pPr algn="ctr"/>
              <a:r>
                <a:rPr lang="ko-KR" altLang="en-US" sz="2800" b="1" dirty="0"/>
                <a:t>구현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1599504-0CC1-E099-D4AD-BB5B3FEB2429}"/>
                </a:ext>
              </a:extLst>
            </p:cNvPr>
            <p:cNvSpPr/>
            <p:nvPr/>
          </p:nvSpPr>
          <p:spPr>
            <a:xfrm>
              <a:off x="3960110" y="1938803"/>
              <a:ext cx="742520" cy="74252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b="1" dirty="0"/>
                <a:t>2</a:t>
              </a:r>
              <a:endParaRPr lang="ko-KR" altLang="en-US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63BC3DF-B5F1-AAAF-2D66-087B5FFA2857}"/>
              </a:ext>
            </a:extLst>
          </p:cNvPr>
          <p:cNvGrpSpPr/>
          <p:nvPr/>
        </p:nvGrpSpPr>
        <p:grpSpPr>
          <a:xfrm>
            <a:off x="8119599" y="1938803"/>
            <a:ext cx="3471968" cy="2289439"/>
            <a:chOff x="7377079" y="1938803"/>
            <a:chExt cx="3471968" cy="2289439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6DE8B31-8D9F-83E5-767D-CD922B0472E7}"/>
                </a:ext>
              </a:extLst>
            </p:cNvPr>
            <p:cNvSpPr/>
            <p:nvPr/>
          </p:nvSpPr>
          <p:spPr>
            <a:xfrm>
              <a:off x="7679586" y="2213812"/>
              <a:ext cx="3169461" cy="2014430"/>
            </a:xfrm>
            <a:prstGeom prst="roundRect">
              <a:avLst>
                <a:gd name="adj" fmla="val 10100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/>
                <a:t>인프라</a:t>
              </a:r>
              <a:r>
                <a:rPr lang="en-US" altLang="ko-KR" sz="2800" b="1" dirty="0"/>
                <a:t>/</a:t>
              </a:r>
              <a:r>
                <a:rPr lang="ko-KR" altLang="en-US" sz="2800" b="1" dirty="0"/>
                <a:t>솔루션</a:t>
              </a:r>
              <a:endParaRPr lang="en-US" altLang="ko-KR" sz="2800" b="1" dirty="0"/>
            </a:p>
            <a:p>
              <a:pPr algn="ctr"/>
              <a:r>
                <a:rPr lang="ko-KR" altLang="en-US" sz="2800" b="1" dirty="0"/>
                <a:t>도입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9309AD4-45AB-A9EA-CB4B-679E09A69418}"/>
                </a:ext>
              </a:extLst>
            </p:cNvPr>
            <p:cNvSpPr/>
            <p:nvPr/>
          </p:nvSpPr>
          <p:spPr>
            <a:xfrm>
              <a:off x="7377079" y="1938803"/>
              <a:ext cx="742520" cy="74252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b="1" dirty="0"/>
                <a:t>3</a:t>
              </a:r>
              <a:endParaRPr lang="ko-KR" altLang="en-US" b="1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BE2CBF3-6439-7825-D274-4DA7514880FD}"/>
              </a:ext>
            </a:extLst>
          </p:cNvPr>
          <p:cNvSpPr txBox="1"/>
          <p:nvPr/>
        </p:nvSpPr>
        <p:spPr>
          <a:xfrm>
            <a:off x="9746224" y="435199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OCR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78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8108-F894-3601-2FA5-B818AD19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2CF777-72E6-66E3-B024-C00DFDE0597D}"/>
              </a:ext>
            </a:extLst>
          </p:cNvPr>
          <p:cNvSpPr txBox="1"/>
          <p:nvPr/>
        </p:nvSpPr>
        <p:spPr>
          <a:xfrm>
            <a:off x="550014" y="398761"/>
            <a:ext cx="1546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RAG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구현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27069E-6312-5326-A670-4C19C7BAFF81}"/>
              </a:ext>
            </a:extLst>
          </p:cNvPr>
          <p:cNvCxnSpPr/>
          <p:nvPr/>
        </p:nvCxnSpPr>
        <p:spPr>
          <a:xfrm>
            <a:off x="598141" y="1038153"/>
            <a:ext cx="1092467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AECBC6C-9C4A-BA36-3BFA-1041A13582AA}"/>
              </a:ext>
            </a:extLst>
          </p:cNvPr>
          <p:cNvSpPr txBox="1"/>
          <p:nvPr/>
        </p:nvSpPr>
        <p:spPr>
          <a:xfrm>
            <a:off x="2111048" y="1533167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차 사업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AD250A-6ED6-215F-134F-52CA0AFCA24E}"/>
              </a:ext>
            </a:extLst>
          </p:cNvPr>
          <p:cNvSpPr/>
          <p:nvPr/>
        </p:nvSpPr>
        <p:spPr>
          <a:xfrm>
            <a:off x="1051905" y="2660697"/>
            <a:ext cx="3870730" cy="2138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/>
              <a:t>KeyLook</a:t>
            </a:r>
            <a:endParaRPr lang="en-US" altLang="ko-KR" sz="3200" b="1" dirty="0"/>
          </a:p>
          <a:p>
            <a:pPr algn="ctr"/>
            <a:r>
              <a:rPr lang="en-US" altLang="ko-KR" sz="2400" dirty="0"/>
              <a:t>(LG CNS </a:t>
            </a:r>
            <a:r>
              <a:rPr lang="ko-KR" altLang="en-US" sz="2400" dirty="0"/>
              <a:t>솔루션</a:t>
            </a:r>
            <a:r>
              <a:rPr lang="en-US" altLang="ko-KR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3D7B3-4750-CACC-5B86-8568A3B18650}"/>
              </a:ext>
            </a:extLst>
          </p:cNvPr>
          <p:cNvSpPr txBox="1"/>
          <p:nvPr/>
        </p:nvSpPr>
        <p:spPr>
          <a:xfrm>
            <a:off x="7975583" y="1533167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차 사업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7B1D3D-A94E-7B02-B721-61CE2FAB98E9}"/>
              </a:ext>
            </a:extLst>
          </p:cNvPr>
          <p:cNvSpPr/>
          <p:nvPr/>
        </p:nvSpPr>
        <p:spPr>
          <a:xfrm>
            <a:off x="6916440" y="2660697"/>
            <a:ext cx="3870730" cy="2138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/>
              <a:t>ProVSearch</a:t>
            </a:r>
            <a:endParaRPr lang="en-US" altLang="ko-KR" sz="2400" b="1" dirty="0"/>
          </a:p>
          <a:p>
            <a:pPr algn="ctr"/>
            <a:r>
              <a:rPr lang="en-US" altLang="ko-KR" sz="2400" dirty="0"/>
              <a:t>(</a:t>
            </a:r>
            <a:r>
              <a:rPr lang="ko-KR" altLang="en-US" sz="2400" dirty="0" err="1"/>
              <a:t>프로텐</a:t>
            </a:r>
            <a:r>
              <a:rPr lang="ko-KR" altLang="en-US" sz="2400" dirty="0"/>
              <a:t> 솔루션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0EC97AE-614A-AA9A-77DC-72BA939DAFB6}"/>
              </a:ext>
            </a:extLst>
          </p:cNvPr>
          <p:cNvSpPr/>
          <p:nvPr/>
        </p:nvSpPr>
        <p:spPr>
          <a:xfrm>
            <a:off x="5678905" y="3334466"/>
            <a:ext cx="391886" cy="941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A6244-EE5A-7326-8EA6-F45FC1E5C54D}"/>
              </a:ext>
            </a:extLst>
          </p:cNvPr>
          <p:cNvSpPr txBox="1"/>
          <p:nvPr/>
        </p:nvSpPr>
        <p:spPr>
          <a:xfrm>
            <a:off x="1306651" y="4957011"/>
            <a:ext cx="324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임베딩 모델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Elastic Search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27B05-9B5D-E6DC-8407-AD17982A425D}"/>
              </a:ext>
            </a:extLst>
          </p:cNvPr>
          <p:cNvSpPr txBox="1"/>
          <p:nvPr/>
        </p:nvSpPr>
        <p:spPr>
          <a:xfrm>
            <a:off x="7733013" y="4957011"/>
            <a:ext cx="2063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임베딩 모델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???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7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1192-E5DE-B2CA-C5A9-37E9EDD0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08ACB3-1B2E-6868-A904-94A04D6A86BD}"/>
              </a:ext>
            </a:extLst>
          </p:cNvPr>
          <p:cNvSpPr txBox="1"/>
          <p:nvPr/>
        </p:nvSpPr>
        <p:spPr>
          <a:xfrm>
            <a:off x="550014" y="398761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차 과제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89E2429-1E5C-6B44-F6B1-7FCF5F70FB8C}"/>
              </a:ext>
            </a:extLst>
          </p:cNvPr>
          <p:cNvCxnSpPr/>
          <p:nvPr/>
        </p:nvCxnSpPr>
        <p:spPr>
          <a:xfrm>
            <a:off x="598141" y="1038153"/>
            <a:ext cx="1092467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C643E98-2A16-0424-712E-105BE8137192}"/>
              </a:ext>
            </a:extLst>
          </p:cNvPr>
          <p:cNvSpPr/>
          <p:nvPr/>
        </p:nvSpPr>
        <p:spPr>
          <a:xfrm>
            <a:off x="845648" y="1760049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/>
              <a:t>신종범죄 탐지 및 조기경보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8ABB279-DE38-5B8C-3799-0271D8F6E123}"/>
              </a:ext>
            </a:extLst>
          </p:cNvPr>
          <p:cNvSpPr/>
          <p:nvPr/>
        </p:nvSpPr>
        <p:spPr>
          <a:xfrm>
            <a:off x="543141" y="1485040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1</a:t>
            </a:r>
            <a:endParaRPr lang="ko-KR" altLang="en-US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BA789E-3058-DEC0-1D42-DA50196BB65B}"/>
              </a:ext>
            </a:extLst>
          </p:cNvPr>
          <p:cNvSpPr/>
          <p:nvPr/>
        </p:nvSpPr>
        <p:spPr>
          <a:xfrm>
            <a:off x="4633877" y="1760049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/>
              <a:t>결정서 및 수사결과통지서 작성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A46E6E6-E56F-93FD-4340-5FD9B8AC4C03}"/>
              </a:ext>
            </a:extLst>
          </p:cNvPr>
          <p:cNvSpPr/>
          <p:nvPr/>
        </p:nvSpPr>
        <p:spPr>
          <a:xfrm>
            <a:off x="4331370" y="1485040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2</a:t>
            </a:r>
            <a:endParaRPr lang="ko-KR" altLang="en-US" b="1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389E7C0-7CF4-87C9-56C6-15A0A7988BCB}"/>
              </a:ext>
            </a:extLst>
          </p:cNvPr>
          <p:cNvSpPr/>
          <p:nvPr/>
        </p:nvSpPr>
        <p:spPr>
          <a:xfrm>
            <a:off x="8422106" y="1760049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/>
              <a:t>피의자신문조서</a:t>
            </a:r>
            <a:r>
              <a:rPr lang="en-US" altLang="ko-KR" sz="2800" b="1" dirty="0"/>
              <a:t>·</a:t>
            </a:r>
            <a:r>
              <a:rPr lang="ko-KR" altLang="en-US" sz="2800" b="1" dirty="0"/>
              <a:t>진술조서 질문 내용 추천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FCBCB70-CF78-E992-40A0-78ABA6D4CCE4}"/>
              </a:ext>
            </a:extLst>
          </p:cNvPr>
          <p:cNvSpPr/>
          <p:nvPr/>
        </p:nvSpPr>
        <p:spPr>
          <a:xfrm>
            <a:off x="8119599" y="1485040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3</a:t>
            </a:r>
            <a:endParaRPr lang="ko-KR" altLang="en-US" b="1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F1A0C98-8CA4-FA8B-279C-BCB5BFC3CE7C}"/>
              </a:ext>
            </a:extLst>
          </p:cNvPr>
          <p:cNvSpPr/>
          <p:nvPr/>
        </p:nvSpPr>
        <p:spPr>
          <a:xfrm>
            <a:off x="845648" y="4118238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 err="1"/>
              <a:t>범죄일람표</a:t>
            </a:r>
            <a:r>
              <a:rPr lang="ko-KR" altLang="en-US" sz="2800" b="1" dirty="0"/>
              <a:t> 작성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9759A39-C438-F296-85A3-8B1EBD34417B}"/>
              </a:ext>
            </a:extLst>
          </p:cNvPr>
          <p:cNvSpPr/>
          <p:nvPr/>
        </p:nvSpPr>
        <p:spPr>
          <a:xfrm>
            <a:off x="543141" y="3843229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4</a:t>
            </a:r>
            <a:endParaRPr lang="ko-KR" altLang="en-US" b="1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1A9839-745A-2108-395A-AC271E3F5CEF}"/>
              </a:ext>
            </a:extLst>
          </p:cNvPr>
          <p:cNvSpPr/>
          <p:nvPr/>
        </p:nvSpPr>
        <p:spPr>
          <a:xfrm>
            <a:off x="4633877" y="4118238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/>
              <a:t>타임테이블 작성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268E2AF-6300-0F29-F233-1DF8F174CAE9}"/>
              </a:ext>
            </a:extLst>
          </p:cNvPr>
          <p:cNvSpPr/>
          <p:nvPr/>
        </p:nvSpPr>
        <p:spPr>
          <a:xfrm>
            <a:off x="4331370" y="3843229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5</a:t>
            </a:r>
            <a:endParaRPr lang="ko-KR" altLang="en-US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91002E-041A-4FB9-384C-B7F371DB64A1}"/>
              </a:ext>
            </a:extLst>
          </p:cNvPr>
          <p:cNvSpPr/>
          <p:nvPr/>
        </p:nvSpPr>
        <p:spPr>
          <a:xfrm>
            <a:off x="8422106" y="4118238"/>
            <a:ext cx="3169461" cy="1705046"/>
          </a:xfrm>
          <a:prstGeom prst="roundRect">
            <a:avLst>
              <a:gd name="adj" fmla="val 101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800" b="1" dirty="0" err="1"/>
              <a:t>수사환류체계</a:t>
            </a:r>
            <a:r>
              <a:rPr lang="ko-KR" altLang="en-US" sz="2800" b="1" dirty="0"/>
              <a:t> 구축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B2AFF69-857E-0DCC-80D1-838CD256DE6B}"/>
              </a:ext>
            </a:extLst>
          </p:cNvPr>
          <p:cNvSpPr/>
          <p:nvPr/>
        </p:nvSpPr>
        <p:spPr>
          <a:xfrm>
            <a:off x="8119599" y="3843229"/>
            <a:ext cx="742520" cy="74252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/>
              <a:t>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5554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ECCF-0630-EDF1-DDE1-55CCAED0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D233DF-54AB-015C-24FC-9C16AAA0F063}"/>
              </a:ext>
            </a:extLst>
          </p:cNvPr>
          <p:cNvSpPr txBox="1"/>
          <p:nvPr/>
        </p:nvSpPr>
        <p:spPr>
          <a:xfrm>
            <a:off x="550014" y="398761"/>
            <a:ext cx="4227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시스템 구성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및 업무 범위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2A7CEF7-ADF1-DE93-936C-C012FABD27F9}"/>
              </a:ext>
            </a:extLst>
          </p:cNvPr>
          <p:cNvCxnSpPr/>
          <p:nvPr/>
        </p:nvCxnSpPr>
        <p:spPr>
          <a:xfrm>
            <a:off x="598141" y="1038153"/>
            <a:ext cx="1092467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01C6B4-F7E7-95C8-88FC-8394A1285F32}"/>
              </a:ext>
            </a:extLst>
          </p:cNvPr>
          <p:cNvSpPr/>
          <p:nvPr/>
        </p:nvSpPr>
        <p:spPr>
          <a:xfrm>
            <a:off x="2452106" y="4021985"/>
            <a:ext cx="1164107" cy="10656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66427CD-9737-7362-A91B-F4171F52F1F5}"/>
              </a:ext>
            </a:extLst>
          </p:cNvPr>
          <p:cNvSpPr/>
          <p:nvPr/>
        </p:nvSpPr>
        <p:spPr>
          <a:xfrm>
            <a:off x="728771" y="4056361"/>
            <a:ext cx="1044273" cy="87314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5BCD05-7608-C06C-A016-7E5B97D11CFC}"/>
              </a:ext>
            </a:extLst>
          </p:cNvPr>
          <p:cNvSpPr/>
          <p:nvPr/>
        </p:nvSpPr>
        <p:spPr>
          <a:xfrm>
            <a:off x="4363753" y="4063235"/>
            <a:ext cx="1164107" cy="10244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E4BDE8-91E3-A726-5854-A75F184E0161}"/>
              </a:ext>
            </a:extLst>
          </p:cNvPr>
          <p:cNvSpPr/>
          <p:nvPr/>
        </p:nvSpPr>
        <p:spPr>
          <a:xfrm>
            <a:off x="6412352" y="4173239"/>
            <a:ext cx="1164107" cy="91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RDB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99BB05-4706-57E1-B80E-4AB5789EED50}"/>
              </a:ext>
            </a:extLst>
          </p:cNvPr>
          <p:cNvSpPr/>
          <p:nvPr/>
        </p:nvSpPr>
        <p:spPr>
          <a:xfrm>
            <a:off x="6412352" y="2708824"/>
            <a:ext cx="1164107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VDB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C729BDC8-21E7-FDB9-AD62-A2706396EDF9}"/>
              </a:ext>
            </a:extLst>
          </p:cNvPr>
          <p:cNvSpPr/>
          <p:nvPr/>
        </p:nvSpPr>
        <p:spPr>
          <a:xfrm>
            <a:off x="1870053" y="4386369"/>
            <a:ext cx="462219" cy="254382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6210077A-9CAB-0E2B-AF21-B3BDC2257089}"/>
              </a:ext>
            </a:extLst>
          </p:cNvPr>
          <p:cNvSpPr/>
          <p:nvPr/>
        </p:nvSpPr>
        <p:spPr>
          <a:xfrm>
            <a:off x="3736047" y="4317617"/>
            <a:ext cx="462219" cy="254382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왼쪽/오른쪽 19">
            <a:extLst>
              <a:ext uri="{FF2B5EF4-FFF2-40B4-BE49-F238E27FC236}">
                <a16:creationId xmlns:a16="http://schemas.microsoft.com/office/drawing/2014/main" id="{BACFD20B-57B7-74B8-A1AD-5AA461264E37}"/>
              </a:ext>
            </a:extLst>
          </p:cNvPr>
          <p:cNvSpPr/>
          <p:nvPr/>
        </p:nvSpPr>
        <p:spPr>
          <a:xfrm>
            <a:off x="5647693" y="4482622"/>
            <a:ext cx="679062" cy="254382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정육면체 32">
            <a:extLst>
              <a:ext uri="{FF2B5EF4-FFF2-40B4-BE49-F238E27FC236}">
                <a16:creationId xmlns:a16="http://schemas.microsoft.com/office/drawing/2014/main" id="{6BAF42B8-4E3D-EFCE-360C-F686114CF838}"/>
              </a:ext>
            </a:extLst>
          </p:cNvPr>
          <p:cNvSpPr/>
          <p:nvPr/>
        </p:nvSpPr>
        <p:spPr>
          <a:xfrm>
            <a:off x="5818886" y="2729448"/>
            <a:ext cx="336678" cy="83877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왼쪽/오른쪽 33">
            <a:extLst>
              <a:ext uri="{FF2B5EF4-FFF2-40B4-BE49-F238E27FC236}">
                <a16:creationId xmlns:a16="http://schemas.microsoft.com/office/drawing/2014/main" id="{2E20B064-BA61-3A1C-C38A-F93DBEC44F49}"/>
              </a:ext>
            </a:extLst>
          </p:cNvPr>
          <p:cNvSpPr/>
          <p:nvPr/>
        </p:nvSpPr>
        <p:spPr>
          <a:xfrm>
            <a:off x="5647693" y="3066333"/>
            <a:ext cx="679062" cy="254382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B5110C-AB67-62FF-BB13-310D0134F7AF}"/>
              </a:ext>
            </a:extLst>
          </p:cNvPr>
          <p:cNvSpPr txBox="1"/>
          <p:nvPr/>
        </p:nvSpPr>
        <p:spPr>
          <a:xfrm>
            <a:off x="5562407" y="3616349"/>
            <a:ext cx="807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ProVSearch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FA67DDA-3192-DD21-C317-4B2F94A27056}"/>
              </a:ext>
            </a:extLst>
          </p:cNvPr>
          <p:cNvSpPr/>
          <p:nvPr/>
        </p:nvSpPr>
        <p:spPr>
          <a:xfrm>
            <a:off x="3730341" y="1471290"/>
            <a:ext cx="1164107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수사지원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DB (RDB)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A5C208-2608-8043-2509-2C9F9394B066}"/>
              </a:ext>
            </a:extLst>
          </p:cNvPr>
          <p:cNvSpPr/>
          <p:nvPr/>
        </p:nvSpPr>
        <p:spPr>
          <a:xfrm>
            <a:off x="5151237" y="1471290"/>
            <a:ext cx="1164107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수사자료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비정형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B71F3F-8153-A917-DCC4-DF235CFD41BB}"/>
              </a:ext>
            </a:extLst>
          </p:cNvPr>
          <p:cNvSpPr/>
          <p:nvPr/>
        </p:nvSpPr>
        <p:spPr>
          <a:xfrm>
            <a:off x="4363753" y="2695073"/>
            <a:ext cx="1164107" cy="10244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RAG</a:t>
            </a:r>
          </a:p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백엔드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검색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33346D63-0570-1EC4-570C-26F927D30054}"/>
              </a:ext>
            </a:extLst>
          </p:cNvPr>
          <p:cNvSpPr/>
          <p:nvPr/>
        </p:nvSpPr>
        <p:spPr>
          <a:xfrm rot="5400000">
            <a:off x="4467775" y="2421634"/>
            <a:ext cx="393030" cy="211137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왼쪽/오른쪽 41">
            <a:extLst>
              <a:ext uri="{FF2B5EF4-FFF2-40B4-BE49-F238E27FC236}">
                <a16:creationId xmlns:a16="http://schemas.microsoft.com/office/drawing/2014/main" id="{12DC297E-3944-8994-4111-9D5650534E77}"/>
              </a:ext>
            </a:extLst>
          </p:cNvPr>
          <p:cNvSpPr/>
          <p:nvPr/>
        </p:nvSpPr>
        <p:spPr>
          <a:xfrm rot="5400000">
            <a:off x="5175369" y="2421634"/>
            <a:ext cx="393030" cy="211137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2FCD53F-8E67-F0EC-1564-4BE0C2AD7E80}"/>
              </a:ext>
            </a:extLst>
          </p:cNvPr>
          <p:cNvSpPr/>
          <p:nvPr/>
        </p:nvSpPr>
        <p:spPr>
          <a:xfrm>
            <a:off x="3850175" y="1388787"/>
            <a:ext cx="3657807" cy="255757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화살표: 왼쪽/오른쪽 63">
            <a:extLst>
              <a:ext uri="{FF2B5EF4-FFF2-40B4-BE49-F238E27FC236}">
                <a16:creationId xmlns:a16="http://schemas.microsoft.com/office/drawing/2014/main" id="{11655D33-7FE3-8D3D-ED11-E73F5C545FFE}"/>
              </a:ext>
            </a:extLst>
          </p:cNvPr>
          <p:cNvSpPr/>
          <p:nvPr/>
        </p:nvSpPr>
        <p:spPr>
          <a:xfrm rot="5400000">
            <a:off x="4694106" y="3789797"/>
            <a:ext cx="393030" cy="211137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왼쪽/오른쪽 65">
            <a:extLst>
              <a:ext uri="{FF2B5EF4-FFF2-40B4-BE49-F238E27FC236}">
                <a16:creationId xmlns:a16="http://schemas.microsoft.com/office/drawing/2014/main" id="{BF5DC27B-DE21-BA03-4DAB-1D76433215F0}"/>
              </a:ext>
            </a:extLst>
          </p:cNvPr>
          <p:cNvSpPr/>
          <p:nvPr/>
        </p:nvSpPr>
        <p:spPr>
          <a:xfrm rot="5400000">
            <a:off x="4728482" y="5206087"/>
            <a:ext cx="393030" cy="211137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40B419-8E9C-3647-1D35-6AF7B27670EA}"/>
              </a:ext>
            </a:extLst>
          </p:cNvPr>
          <p:cNvSpPr txBox="1"/>
          <p:nvPr/>
        </p:nvSpPr>
        <p:spPr>
          <a:xfrm>
            <a:off x="8320697" y="2118491"/>
            <a:ext cx="329837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dirty="0"/>
              <a:t>2</a:t>
            </a:r>
            <a:r>
              <a:rPr lang="ko-KR" altLang="en-US" sz="2000" dirty="0"/>
              <a:t>차 과제 구현을 위한 </a:t>
            </a:r>
            <a:r>
              <a:rPr lang="en-US" altLang="ko-KR" sz="2000" b="1" dirty="0"/>
              <a:t>RAG </a:t>
            </a:r>
            <a:r>
              <a:rPr lang="ko-KR" altLang="en-US" sz="2000" b="1" dirty="0"/>
              <a:t>파이프라인 설계 및 구현</a:t>
            </a:r>
            <a:endParaRPr lang="en-US" altLang="ko-KR" sz="2000" b="1" dirty="0"/>
          </a:p>
          <a:p>
            <a:pPr marL="285750" indent="-28575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검색 품질 향상을 위한 작업들</a:t>
            </a:r>
            <a:endParaRPr lang="en-US" altLang="ko-KR" sz="2000" dirty="0"/>
          </a:p>
          <a:p>
            <a:pPr marL="285750" indent="-28575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각종 테스트 진행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A74DE9C-D414-1AF5-AAAA-31BC0696DD30}"/>
              </a:ext>
            </a:extLst>
          </p:cNvPr>
          <p:cNvSpPr/>
          <p:nvPr/>
        </p:nvSpPr>
        <p:spPr>
          <a:xfrm>
            <a:off x="2460127" y="5527651"/>
            <a:ext cx="5178207" cy="6359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LLM (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엑사원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4.0 32B)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624240-1D33-4119-1AD5-7E4CD62D2305}"/>
              </a:ext>
            </a:extLst>
          </p:cNvPr>
          <p:cNvSpPr txBox="1"/>
          <p:nvPr/>
        </p:nvSpPr>
        <p:spPr>
          <a:xfrm>
            <a:off x="6366425" y="1505667"/>
            <a:ext cx="1478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각종 파일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이미지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STT </a:t>
            </a:r>
            <a:r>
              <a:rPr lang="ko-KR" altLang="en-US" dirty="0"/>
              <a:t>결과</a:t>
            </a:r>
          </a:p>
        </p:txBody>
      </p:sp>
      <p:sp>
        <p:nvSpPr>
          <p:cNvPr id="69" name="정육면체 68">
            <a:extLst>
              <a:ext uri="{FF2B5EF4-FFF2-40B4-BE49-F238E27FC236}">
                <a16:creationId xmlns:a16="http://schemas.microsoft.com/office/drawing/2014/main" id="{43684DEF-8144-3DB5-DB66-A04AAA3C9D1A}"/>
              </a:ext>
            </a:extLst>
          </p:cNvPr>
          <p:cNvSpPr/>
          <p:nvPr/>
        </p:nvSpPr>
        <p:spPr>
          <a:xfrm>
            <a:off x="3233816" y="2729448"/>
            <a:ext cx="336678" cy="83877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65CDB9-7F20-B69D-F048-A441B22CA3A4}"/>
              </a:ext>
            </a:extLst>
          </p:cNvPr>
          <p:cNvSpPr txBox="1"/>
          <p:nvPr/>
        </p:nvSpPr>
        <p:spPr>
          <a:xfrm>
            <a:off x="2875315" y="3616349"/>
            <a:ext cx="1011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OCR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</a:t>
            </a:r>
          </a:p>
        </p:txBody>
      </p:sp>
      <p:sp>
        <p:nvSpPr>
          <p:cNvPr id="71" name="화살표: 왼쪽/오른쪽 70">
            <a:extLst>
              <a:ext uri="{FF2B5EF4-FFF2-40B4-BE49-F238E27FC236}">
                <a16:creationId xmlns:a16="http://schemas.microsoft.com/office/drawing/2014/main" id="{3BE5FF87-CF19-4162-B599-05BB6B912D02}"/>
              </a:ext>
            </a:extLst>
          </p:cNvPr>
          <p:cNvSpPr/>
          <p:nvPr/>
        </p:nvSpPr>
        <p:spPr>
          <a:xfrm>
            <a:off x="3619512" y="3066333"/>
            <a:ext cx="679062" cy="254382"/>
          </a:xfrm>
          <a:prstGeom prst="left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08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EC0B-96E2-1AA9-03DF-DEE5A8DA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E7A6DC-2477-E2EE-922A-62604DFD8BAC}"/>
              </a:ext>
            </a:extLst>
          </p:cNvPr>
          <p:cNvSpPr txBox="1"/>
          <p:nvPr/>
        </p:nvSpPr>
        <p:spPr>
          <a:xfrm>
            <a:off x="550014" y="398761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근무 환경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C6EC62D-8895-33EB-2599-AF1BEA9145CF}"/>
              </a:ext>
            </a:extLst>
          </p:cNvPr>
          <p:cNvCxnSpPr/>
          <p:nvPr/>
        </p:nvCxnSpPr>
        <p:spPr>
          <a:xfrm>
            <a:off x="598141" y="1038153"/>
            <a:ext cx="1092467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D62617-856B-8DF0-80AC-09A4F9AAF9FB}"/>
              </a:ext>
            </a:extLst>
          </p:cNvPr>
          <p:cNvSpPr txBox="1"/>
          <p:nvPr/>
        </p:nvSpPr>
        <p:spPr>
          <a:xfrm>
            <a:off x="1844270" y="1678479"/>
            <a:ext cx="714160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근무지</a:t>
            </a:r>
            <a:r>
              <a:rPr lang="en-US" altLang="ko-KR" sz="2000" dirty="0"/>
              <a:t>: LG</a:t>
            </a:r>
            <a:r>
              <a:rPr lang="ko-KR" altLang="en-US" sz="2000" dirty="0"/>
              <a:t>마포빌딩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공덕역</a:t>
            </a:r>
            <a:r>
              <a:rPr lang="ko-KR" altLang="en-US" sz="2000" dirty="0"/>
              <a:t> 도보 </a:t>
            </a:r>
            <a:r>
              <a:rPr lang="en-US" altLang="ko-KR" sz="2000" dirty="0"/>
              <a:t>10</a:t>
            </a:r>
            <a:r>
              <a:rPr lang="ko-KR" altLang="en-US" sz="2000" dirty="0"/>
              <a:t>분</a:t>
            </a:r>
            <a:r>
              <a:rPr lang="en-US" altLang="ko-KR" sz="2000" dirty="0"/>
              <a:t>)</a:t>
            </a:r>
          </a:p>
          <a:p>
            <a:pPr marL="285750" indent="-285750" latinLnBrk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경찰청 내부 </a:t>
            </a:r>
            <a:r>
              <a:rPr lang="ko-KR" altLang="en-US" sz="2000" dirty="0" err="1"/>
              <a:t>폐쇠망</a:t>
            </a:r>
            <a:r>
              <a:rPr lang="en-US" altLang="ko-KR" sz="2000" dirty="0"/>
              <a:t> (</a:t>
            </a:r>
            <a:r>
              <a:rPr lang="ko-KR" altLang="en-US" sz="2000" b="1" dirty="0"/>
              <a:t>인터넷 사용 안됨</a:t>
            </a:r>
            <a:r>
              <a:rPr lang="en-US" altLang="ko-KR" sz="2000" dirty="0"/>
              <a:t>)</a:t>
            </a:r>
          </a:p>
          <a:p>
            <a:pPr marL="285750" indent="-285750" latinLnBrk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개발용 노트북</a:t>
            </a:r>
            <a:r>
              <a:rPr lang="en-US" altLang="ko-KR" sz="2000" dirty="0"/>
              <a:t>: </a:t>
            </a:r>
            <a:r>
              <a:rPr lang="ko-KR" altLang="en-US" sz="2000" dirty="0"/>
              <a:t>개별 준비</a:t>
            </a:r>
            <a:r>
              <a:rPr lang="en-US" altLang="ko-KR" sz="2000" dirty="0"/>
              <a:t>, </a:t>
            </a:r>
            <a:r>
              <a:rPr lang="ko-KR" altLang="en-US" sz="2000" b="1" dirty="0" err="1"/>
              <a:t>반출시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SSD </a:t>
            </a:r>
            <a:r>
              <a:rPr lang="ko-KR" altLang="en-US" sz="2000" b="1" dirty="0"/>
              <a:t>반납이 필요</a:t>
            </a:r>
            <a:r>
              <a:rPr lang="ko-KR" altLang="en-US" sz="2000" dirty="0"/>
              <a:t>하므로 해당상황 고려하여 준비</a:t>
            </a:r>
            <a:endParaRPr lang="en-US" altLang="ko-KR" sz="2000" dirty="0"/>
          </a:p>
          <a:p>
            <a:pPr marL="285750" indent="-285750" latinLnBrk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2000" dirty="0"/>
              <a:t>개발 기간</a:t>
            </a:r>
            <a:r>
              <a:rPr lang="en-US" altLang="ko-KR" sz="2000" dirty="0"/>
              <a:t>: 7</a:t>
            </a:r>
            <a:r>
              <a:rPr lang="ko-KR" altLang="en-US" sz="2000" dirty="0"/>
              <a:t>월 </a:t>
            </a:r>
            <a:r>
              <a:rPr lang="en-US" altLang="ko-KR" sz="2000" dirty="0"/>
              <a:t>~ 12</a:t>
            </a:r>
            <a:r>
              <a:rPr lang="ko-KR" altLang="en-US" sz="2000" dirty="0"/>
              <a:t>월</a:t>
            </a:r>
            <a:r>
              <a:rPr lang="en-US" altLang="ko-KR" sz="2000" dirty="0"/>
              <a:t>(</a:t>
            </a:r>
            <a:r>
              <a:rPr lang="ko-KR" altLang="en-US" sz="2000" dirty="0"/>
              <a:t>예상</a:t>
            </a:r>
            <a:r>
              <a:rPr lang="en-US" altLang="ko-KR" sz="2000" dirty="0"/>
              <a:t>, </a:t>
            </a:r>
            <a:r>
              <a:rPr lang="ko-KR" altLang="en-US" sz="2000" dirty="0"/>
              <a:t>계약 시점 및 사무실 구축 경과에 따라 </a:t>
            </a:r>
            <a:r>
              <a:rPr lang="en-US" altLang="ko-KR" sz="2000" dirty="0"/>
              <a:t>1~2</a:t>
            </a:r>
            <a:r>
              <a:rPr lang="ko-KR" altLang="en-US" sz="2000" dirty="0"/>
              <a:t>주 가량 조정될 수 있음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5609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200</Words>
  <Application>Microsoft Office PowerPoint</Application>
  <PresentationFormat>와이드스크린</PresentationFormat>
  <Paragraphs>62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경찰청 RAG 구축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김응현 (컨설팅센터@디딤)</dc:creator>
  <cp:lastModifiedBy>김응현 (컨설팅센터@디딤)</cp:lastModifiedBy>
  <cp:revision>27</cp:revision>
  <dcterms:created xsi:type="dcterms:W3CDTF">2026-06-08T01:18:18Z</dcterms:created>
  <dcterms:modified xsi:type="dcterms:W3CDTF">2026-06-08T02:12:54Z</dcterms:modified>
</cp:coreProperties>
</file>